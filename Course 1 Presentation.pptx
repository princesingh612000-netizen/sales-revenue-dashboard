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 singh" userId="d5f1797129917f0c" providerId="LiveId" clId="{23404A22-7431-48C3-95BF-FFA205ECE267}"/>
    <pc:docChg chg="undo custSel modSld">
      <pc:chgData name="prince singh" userId="d5f1797129917f0c" providerId="LiveId" clId="{23404A22-7431-48C3-95BF-FFA205ECE267}" dt="2026-03-12T17:09:18.032" v="23" actId="20577"/>
      <pc:docMkLst>
        <pc:docMk/>
      </pc:docMkLst>
      <pc:sldChg chg="modSp mod">
        <pc:chgData name="prince singh" userId="d5f1797129917f0c" providerId="LiveId" clId="{23404A22-7431-48C3-95BF-FFA205ECE267}" dt="2026-03-12T17:09:18.032" v="23" actId="20577"/>
        <pc:sldMkLst>
          <pc:docMk/>
          <pc:sldMk cId="2806596662" sldId="257"/>
        </pc:sldMkLst>
        <pc:spChg chg="mod">
          <ac:chgData name="prince singh" userId="d5f1797129917f0c" providerId="LiveId" clId="{23404A22-7431-48C3-95BF-FFA205ECE267}" dt="2026-03-12T17:09:18.032" v="23" actId="20577"/>
          <ac:spMkLst>
            <pc:docMk/>
            <pc:sldMk cId="2806596662" sldId="257"/>
            <ac:spMk id="2" creationId="{24AE7AB8-A201-2849-219F-735C6C8FE1BD}"/>
          </ac:spMkLst>
        </pc:spChg>
        <pc:spChg chg="mod">
          <ac:chgData name="prince singh" userId="d5f1797129917f0c" providerId="LiveId" clId="{23404A22-7431-48C3-95BF-FFA205ECE267}" dt="2026-03-12T17:08:08.933" v="10" actId="1076"/>
          <ac:spMkLst>
            <pc:docMk/>
            <pc:sldMk cId="2806596662" sldId="257"/>
            <ac:spMk id="3" creationId="{88F063E2-CBC4-D436-A6FE-84B0C10DBA4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5f1797129917f0c/Desktop/NIIT%20Course/Data%20Storytelling%20and%20Visualization%20Course%201/Project%20-%20Dashboard/NIIT_Data_Analysis%20-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5f1797129917f0c/Desktop/NIIT%20Course/Data%20Storytelling%20and%20Visualization%20Course%201/Project%20-%20Dashboard/NIIT_Data_Analysis%20-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5f1797129917f0c/Desktop/NIIT%20Course/Data%20Storytelling%20and%20Visualization%20Course%201/Project%20-%20Dashboard/NIIT_Data_Analysis%20-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5f1797129917f0c/Desktop/NIIT%20Course/Data%20Storytelling%20and%20Visualization%20Course%201/Project%20-%20Dashboard/NIIT_Data_Analysis%20-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chartUserShapes" Target="../drawings/drawing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5f1797129917f0c/Desktop/NIIT%20Course/Data%20Storytelling%20and%20Visualization%20Course%201/Project%20-%20Dashboard/NIIT_Data_Analysis%20-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[NIIT_Data_Analysis - Project.xlsx]Gender Chart!PivotTable5</c:name>
    <c:fmtId val="16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u="sng">
                <a:latin typeface="+mj-lt"/>
              </a:rPr>
              <a:t>Total Sales by Gender</a:t>
            </a:r>
          </a:p>
        </c:rich>
      </c:tx>
      <c:layout>
        <c:manualLayout>
          <c:xMode val="edge"/>
          <c:yMode val="edge"/>
          <c:x val="0.32568744531933508"/>
          <c:y val="4.54650281685500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8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1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  <c:pivotFmt>
        <c:idx val="14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</c:pivotFmt>
    </c:pivotFmts>
    <c:plotArea>
      <c:layout>
        <c:manualLayout>
          <c:layoutTarget val="inner"/>
          <c:xMode val="edge"/>
          <c:yMode val="edge"/>
          <c:x val="7.5157480314960612E-2"/>
          <c:y val="0.18949325894932589"/>
          <c:w val="0.45927777777777778"/>
          <c:h val="0.76866573686657369"/>
        </c:manualLayout>
      </c:layout>
      <c:pieChart>
        <c:varyColors val="1"/>
        <c:ser>
          <c:idx val="0"/>
          <c:order val="0"/>
          <c:tx>
            <c:strRef>
              <c:f>'Gender Chart'!$B$1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583E-4D45-BEA1-8C0CE510EAF1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583E-4D45-BEA1-8C0CE510EAF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'Gender Chart'!$A$2:$A$4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'Gender Chart'!$B$2:$B$4</c:f>
              <c:numCache>
                <c:formatCode>0.00%</c:formatCode>
                <c:ptCount val="2"/>
                <c:pt idx="0">
                  <c:v>0.46126040162460791</c:v>
                </c:pt>
                <c:pt idx="1">
                  <c:v>0.53873959837539209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3E-4D45-BEA1-8C0CE510EAF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459273840769899"/>
          <c:y val="0.76501572240708404"/>
          <c:w val="0.26262948381452317"/>
          <c:h val="0.1569048638794627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3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[NIIT_Data_Analysis - Project.xlsx]Product Chart!PivotTable2</c:name>
    <c:fmtId val="15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u="sng">
                <a:solidFill>
                  <a:sysClr val="windowText" lastClr="000000"/>
                </a:solidFill>
                <a:latin typeface="+mj-lt"/>
              </a:rPr>
              <a:t>Sales by Product</a:t>
            </a:r>
          </a:p>
        </c:rich>
      </c:tx>
      <c:layout>
        <c:manualLayout>
          <c:xMode val="edge"/>
          <c:yMode val="edge"/>
          <c:x val="0.35219444444444442"/>
          <c:y val="2.21274424030329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724759405074366"/>
          <c:y val="0.15770851560221638"/>
          <c:w val="0.59828937007874028"/>
          <c:h val="0.599003718285214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'Product Chart'!$B$1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'Product Chart'!$A$2:$A$9</c:f>
              <c:strCache>
                <c:ptCount val="7"/>
                <c:pt idx="0">
                  <c:v>Backpack</c:v>
                </c:pt>
                <c:pt idx="1">
                  <c:v>Headphones</c:v>
                </c:pt>
                <c:pt idx="2">
                  <c:v>Laptop</c:v>
                </c:pt>
                <c:pt idx="3">
                  <c:v>Phone</c:v>
                </c:pt>
                <c:pt idx="4">
                  <c:v>Shoes</c:v>
                </c:pt>
                <c:pt idx="5">
                  <c:v>T-Shirt</c:v>
                </c:pt>
                <c:pt idx="6">
                  <c:v>Watch</c:v>
                </c:pt>
              </c:strCache>
            </c:strRef>
          </c:cat>
          <c:val>
            <c:numRef>
              <c:f>'Product Chart'!$B$2:$B$9</c:f>
              <c:numCache>
                <c:formatCode>General</c:formatCode>
                <c:ptCount val="7"/>
                <c:pt idx="0">
                  <c:v>427748</c:v>
                </c:pt>
                <c:pt idx="1">
                  <c:v>401902</c:v>
                </c:pt>
                <c:pt idx="2">
                  <c:v>464486</c:v>
                </c:pt>
                <c:pt idx="3">
                  <c:v>380648</c:v>
                </c:pt>
                <c:pt idx="4">
                  <c:v>228684</c:v>
                </c:pt>
                <c:pt idx="5">
                  <c:v>391626</c:v>
                </c:pt>
                <c:pt idx="6">
                  <c:v>373119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F-47DB-BE65-33FBDE87C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9400224"/>
        <c:axId val="699399264"/>
      </c:barChart>
      <c:catAx>
        <c:axId val="699400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399264"/>
        <c:crosses val="autoZero"/>
        <c:auto val="1"/>
        <c:lblAlgn val="ctr"/>
        <c:lblOffset val="100"/>
        <c:noMultiLvlLbl val="0"/>
      </c:catAx>
      <c:valAx>
        <c:axId val="69939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9400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[NIIT_Data_Analysis - Project.xlsx]Month Chart!PivotTable3</c:name>
    <c:fmtId val="16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by Month</a:t>
            </a:r>
          </a:p>
        </c:rich>
      </c:tx>
      <c:layout>
        <c:manualLayout>
          <c:xMode val="edge"/>
          <c:yMode val="edge"/>
          <c:x val="0.32165627399390256"/>
          <c:y val="4.5275590551181105E-2"/>
        </c:manualLayout>
      </c:layout>
      <c:overlay val="0"/>
      <c:spPr>
        <a:solidFill>
          <a:schemeClr val="accent4">
            <a:lumMod val="5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4F81BD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4F81BD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4F81BD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4F81BD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UpDiag">
            <a:fgClr>
              <a:schemeClr val="accent1"/>
            </a:fgClr>
            <a:bgClr>
              <a:schemeClr val="lt1"/>
            </a:bgClr>
          </a:pattFill>
          <a:ln w="25400" cap="rnd">
            <a:solidFill>
              <a:schemeClr val="lt1"/>
            </a:solidFill>
            <a:round/>
          </a:ln>
          <a:effectLst>
            <a:outerShdw dist="25400" dir="2700000" algn="tl" rotWithShape="0">
              <a:schemeClr val="accent1"/>
            </a:outerShdw>
          </a:effectLst>
        </c:spPr>
        <c:marker>
          <c:symbol val="circle"/>
          <c:size val="14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solidFill>
              <a:srgbClr val="4F81BD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2439820481436147E-2"/>
          <c:y val="0.22263670166229221"/>
          <c:w val="0.77764177886576913"/>
          <c:h val="0.5783920239136775"/>
        </c:manualLayout>
      </c:layout>
      <c:lineChart>
        <c:grouping val="standard"/>
        <c:varyColors val="0"/>
        <c:ser>
          <c:idx val="0"/>
          <c:order val="0"/>
          <c:tx>
            <c:strRef>
              <c:f>'Month Chart'!$B$1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1"/>
              </a:outerShdw>
            </a:effectLst>
          </c:spPr>
          <c:marker>
            <c:symbol val="circle"/>
            <c:size val="14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solidFill>
                <a:srgbClr val="4F81BD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 Chart'!$A$2:$A$14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'Month Chart'!$B$2:$B$14</c:f>
              <c:numCache>
                <c:formatCode>0.00%</c:formatCode>
                <c:ptCount val="12"/>
                <c:pt idx="0">
                  <c:v>8.6451493939951565E-2</c:v>
                </c:pt>
                <c:pt idx="1">
                  <c:v>6.2266768057872443E-2</c:v>
                </c:pt>
                <c:pt idx="2">
                  <c:v>6.408521358677137E-2</c:v>
                </c:pt>
                <c:pt idx="3">
                  <c:v>6.2945124695817006E-2</c:v>
                </c:pt>
                <c:pt idx="4">
                  <c:v>7.6263401759904481E-2</c:v>
                </c:pt>
                <c:pt idx="5">
                  <c:v>0.14604381284402707</c:v>
                </c:pt>
                <c:pt idx="6">
                  <c:v>8.8630480400177944E-2</c:v>
                </c:pt>
                <c:pt idx="7">
                  <c:v>7.6455665271100925E-2</c:v>
                </c:pt>
                <c:pt idx="8">
                  <c:v>8.3363284715275723E-2</c:v>
                </c:pt>
                <c:pt idx="9">
                  <c:v>0.10638281126731637</c:v>
                </c:pt>
                <c:pt idx="10">
                  <c:v>7.0646908623861734E-2</c:v>
                </c:pt>
                <c:pt idx="11">
                  <c:v>7.6465034837923357E-2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55-478C-B812-486922A7253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marker val="1"/>
        <c:smooth val="0"/>
        <c:axId val="433470944"/>
        <c:axId val="392990720"/>
      </c:lineChart>
      <c:catAx>
        <c:axId val="43347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3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2990720"/>
        <c:crosses val="autoZero"/>
        <c:auto val="1"/>
        <c:lblAlgn val="ctr"/>
        <c:lblOffset val="100"/>
        <c:noMultiLvlLbl val="0"/>
      </c:catAx>
      <c:valAx>
        <c:axId val="39299072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433470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1"/>
    </a:solidFill>
    <a:ln w="9525" cap="flat" cmpd="sng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[NIIT_Data_Analysis - Project.xlsx]Region Chart!PivotTable1</c:name>
    <c:fmtId val="15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u="sng">
                <a:solidFill>
                  <a:schemeClr val="accent4">
                    <a:lumMod val="50000"/>
                  </a:schemeClr>
                </a:solidFill>
                <a:latin typeface="+mj-lt"/>
              </a:rPr>
              <a:t>Sales</a:t>
            </a:r>
            <a:r>
              <a:rPr lang="en-US" sz="1200" u="sng" baseline="0">
                <a:solidFill>
                  <a:schemeClr val="accent4">
                    <a:lumMod val="50000"/>
                  </a:schemeClr>
                </a:solidFill>
                <a:latin typeface="+mj-lt"/>
              </a:rPr>
              <a:t> by region</a:t>
            </a:r>
            <a:endParaRPr lang="en-US" sz="1200" u="sng">
              <a:solidFill>
                <a:schemeClr val="accent4">
                  <a:lumMod val="50000"/>
                </a:schemeClr>
              </a:solidFill>
              <a:latin typeface="+mj-lt"/>
            </a:endParaRPr>
          </a:p>
        </c:rich>
      </c:tx>
      <c:layout>
        <c:manualLayout>
          <c:xMode val="edge"/>
          <c:yMode val="edge"/>
          <c:x val="0.37112489063867021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2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3"/>
        <c:spPr>
          <a:solidFill>
            <a:srgbClr val="00B050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B050"/>
          </a:solidFill>
          <a:ln>
            <a:noFill/>
          </a:ln>
          <a:effectLst/>
        </c:spPr>
      </c:pivotFmt>
      <c:pivotFmt>
        <c:idx val="6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7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00B050"/>
          </a:solidFill>
          <a:ln>
            <a:noFill/>
          </a:ln>
          <a:effectLst/>
        </c:spPr>
      </c:pivotFmt>
      <c:pivotFmt>
        <c:idx val="10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00B050"/>
          </a:solidFill>
          <a:ln>
            <a:noFill/>
          </a:ln>
          <a:effectLst/>
        </c:spPr>
      </c:pivotFmt>
      <c:pivotFmt>
        <c:idx val="14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15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00B050"/>
          </a:solidFill>
          <a:ln>
            <a:noFill/>
          </a:ln>
          <a:effectLst/>
        </c:spPr>
      </c:pivotFmt>
      <c:pivotFmt>
        <c:idx val="18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</c:pivotFmt>
      <c:pivotFmt>
        <c:idx val="1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0080336832895888"/>
          <c:y val="0.12993073782443865"/>
          <c:w val="0.6111966316710411"/>
          <c:h val="0.7626698745990084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'Region Chart'!$B$1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B56-4805-AB4D-D23D590C976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B56-4805-AB4D-D23D590C976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B56-4805-AB4D-D23D590C97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'Region Chart'!$A$2:$A$6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'Region Chart'!$B$2:$B$6</c:f>
              <c:numCache>
                <c:formatCode>General</c:formatCode>
                <c:ptCount val="4"/>
                <c:pt idx="0">
                  <c:v>656435</c:v>
                </c:pt>
                <c:pt idx="1">
                  <c:v>767236</c:v>
                </c:pt>
                <c:pt idx="2">
                  <c:v>548327</c:v>
                </c:pt>
                <c:pt idx="3">
                  <c:v>696215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56-4805-AB4D-D23D590C97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35502144"/>
        <c:axId val="335502624"/>
      </c:barChart>
      <c:catAx>
        <c:axId val="335502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502624"/>
        <c:crosses val="autoZero"/>
        <c:auto val="1"/>
        <c:lblAlgn val="ctr"/>
        <c:lblOffset val="100"/>
        <c:noMultiLvlLbl val="0"/>
      </c:catAx>
      <c:valAx>
        <c:axId val="335502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5502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[NIIT_Data_Analysis - Project.xlsx]Quantity Chart!PivotTable4</c:name>
    <c:fmtId val="15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Sales by quantity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6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'Quantity Chart'!$B$1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1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1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1-F2C6-429C-96DE-55FDBB96140E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2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2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3-F2C6-429C-96DE-55FDBB96140E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3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3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5-F2C6-429C-96DE-55FDBB96140E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4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4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7-F2C6-429C-96DE-55FDBB96140E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98000"/>
                      <a:satMod val="110000"/>
                      <a:lumMod val="104000"/>
                    </a:schemeClr>
                  </a:gs>
                  <a:gs pos="69000">
                    <a:schemeClr val="accent5">
                      <a:shade val="88000"/>
                      <a:satMod val="130000"/>
                      <a:lumMod val="92000"/>
                    </a:schemeClr>
                  </a:gs>
                  <a:gs pos="100000">
                    <a:schemeClr val="accent5">
                      <a:shade val="78000"/>
                      <a:satMod val="130000"/>
                      <a:lumMod val="92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0800" dist="50800" dir="5400000" sx="96000" sy="96000" rotWithShape="0">
                  <a:srgbClr val="000000">
                    <a:alpha val="48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1080000"/>
                </a:lightRig>
              </a:scene3d>
              <a:sp3d>
                <a:bevelT w="38100" h="12700" prst="softRound"/>
              </a:sp3d>
            </c:spPr>
            <c:extLst>
              <c:ext xmlns:c16="http://schemas.microsoft.com/office/drawing/2014/chart" uri="{C3380CC4-5D6E-409C-BE32-E72D297353CC}">
                <c16:uniqueId val="{00000009-F2C6-429C-96DE-55FDBB96140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'Quantity Chart'!$A$2:$A$7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'Quantity Chart'!$B$2:$B$7</c:f>
              <c:numCache>
                <c:formatCode>General</c:formatCode>
                <c:ptCount val="5"/>
                <c:pt idx="0">
                  <c:v>174674</c:v>
                </c:pt>
                <c:pt idx="1">
                  <c:v>321210</c:v>
                </c:pt>
                <c:pt idx="2">
                  <c:v>485850</c:v>
                </c:pt>
                <c:pt idx="3">
                  <c:v>665564</c:v>
                </c:pt>
                <c:pt idx="4">
                  <c:v>1020915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2C6-429C-96DE-55FDBB96140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0.56667</cdr:x>
      <cdr:y>0.18689</cdr:y>
    </cdr:from>
    <cdr:to>
      <cdr:x>0.96333</cdr:x>
      <cdr:y>0.64156</cdr:y>
    </cdr:to>
    <cdr:sp macro="" textlink="">
      <cdr:nvSpPr>
        <cdr:cNvPr id="2" name="Rectangle: Rounded Corners 1">
          <a:extLst xmlns:a="http://schemas.openxmlformats.org/drawingml/2006/main">
            <a:ext uri="{FF2B5EF4-FFF2-40B4-BE49-F238E27FC236}">
              <a16:creationId xmlns:a16="http://schemas.microsoft.com/office/drawing/2014/main" id="{03F1D3E4-F3D7-A46D-FE47-230ADFABC63B}"/>
            </a:ext>
          </a:extLst>
        </cdr:cNvPr>
        <cdr:cNvSpPr/>
      </cdr:nvSpPr>
      <cdr:spPr>
        <a:xfrm xmlns:a="http://schemas.openxmlformats.org/drawingml/2006/main">
          <a:off x="2590800" y="510540"/>
          <a:ext cx="1813560" cy="1242060"/>
        </a:xfrm>
        <a:prstGeom xmlns:a="http://schemas.openxmlformats.org/drawingml/2006/main" prst="roundRect">
          <a:avLst/>
        </a:prstGeom>
        <a:solidFill xmlns:a="http://schemas.openxmlformats.org/drawingml/2006/main">
          <a:schemeClr val="accent2">
            <a:lumMod val="20000"/>
            <a:lumOff val="80000"/>
          </a:scheme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en-IN" kern="1200">
              <a:solidFill>
                <a:schemeClr val="tx1">
                  <a:lumMod val="95000"/>
                  <a:lumOff val="5000"/>
                </a:schemeClr>
              </a:solidFill>
            </a:rPr>
            <a:t>This</a:t>
          </a:r>
          <a:r>
            <a:rPr lang="en-IN" kern="1200" baseline="0">
              <a:solidFill>
                <a:schemeClr val="tx1">
                  <a:lumMod val="95000"/>
                  <a:lumOff val="5000"/>
                </a:schemeClr>
              </a:solidFill>
            </a:rPr>
            <a:t> chart indicates the Total Sales by the Gender.</a:t>
          </a:r>
        </a:p>
        <a:p xmlns:a="http://schemas.openxmlformats.org/drawingml/2006/main">
          <a:pPr algn="ctr"/>
          <a:r>
            <a:rPr lang="en-IN" kern="1200" baseline="0">
              <a:solidFill>
                <a:schemeClr val="tx1">
                  <a:lumMod val="95000"/>
                  <a:lumOff val="5000"/>
                </a:schemeClr>
              </a:solidFill>
            </a:rPr>
            <a:t>Males has moderately higher percentage than Female in terms of total sales.</a:t>
          </a:r>
          <a:endParaRPr lang="en-IN" kern="1200">
            <a:solidFill>
              <a:schemeClr val="tx1">
                <a:lumMod val="95000"/>
                <a:lumOff val="5000"/>
              </a:schemeClr>
            </a:solidFill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0.74</cdr:x>
      <cdr:y>0.30417</cdr:y>
    </cdr:from>
    <cdr:to>
      <cdr:x>0.965</cdr:x>
      <cdr:y>0.6625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32069002-C856-FF9D-7D2D-28A0F28ECE84}"/>
            </a:ext>
          </a:extLst>
        </cdr:cNvPr>
        <cdr:cNvSpPr/>
      </cdr:nvSpPr>
      <cdr:spPr>
        <a:xfrm xmlns:a="http://schemas.openxmlformats.org/drawingml/2006/main">
          <a:off x="3383280" y="834390"/>
          <a:ext cx="1028700" cy="982980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3">
            <a:lumMod val="40000"/>
            <a:lumOff val="60000"/>
          </a:scheme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IN" kern="1200">
              <a:solidFill>
                <a:sysClr val="windowText" lastClr="000000"/>
              </a:solidFill>
            </a:rPr>
            <a:t>This</a:t>
          </a:r>
          <a:r>
            <a:rPr lang="en-IN" kern="1200" baseline="0">
              <a:solidFill>
                <a:sysClr val="windowText" lastClr="000000"/>
              </a:solidFill>
            </a:rPr>
            <a:t> chart indicate the Total sale of the Product category wise.</a:t>
          </a:r>
          <a:endParaRPr lang="en-IN" kern="1200">
            <a:solidFill>
              <a:sysClr val="windowText" lastClr="000000"/>
            </a:solidFill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0.80241</cdr:x>
      <cdr:y>0.1589</cdr:y>
    </cdr:from>
    <cdr:to>
      <cdr:x>0.9675</cdr:x>
      <cdr:y>0.93706</cdr:y>
    </cdr:to>
    <cdr:sp macro="" textlink="">
      <cdr:nvSpPr>
        <cdr:cNvPr id="3" name="Rectangle: Rounded Corners 2">
          <a:extLst xmlns:a="http://schemas.openxmlformats.org/drawingml/2006/main">
            <a:ext uri="{FF2B5EF4-FFF2-40B4-BE49-F238E27FC236}">
              <a16:creationId xmlns:a16="http://schemas.microsoft.com/office/drawing/2014/main" id="{D2407CED-1743-6CC8-88D4-A80889BBAA26}"/>
            </a:ext>
          </a:extLst>
        </cdr:cNvPr>
        <cdr:cNvSpPr/>
      </cdr:nvSpPr>
      <cdr:spPr>
        <a:xfrm xmlns:a="http://schemas.openxmlformats.org/drawingml/2006/main">
          <a:off x="4998947" y="441096"/>
          <a:ext cx="1028473" cy="2160046"/>
        </a:xfrm>
        <a:prstGeom xmlns:a="http://schemas.openxmlformats.org/drawingml/2006/main" prst="roundRect">
          <a:avLst/>
        </a:prstGeom>
        <a:solidFill xmlns:a="http://schemas.openxmlformats.org/drawingml/2006/main">
          <a:schemeClr val="accent2">
            <a:lumMod val="75000"/>
          </a:scheme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pPr algn="ctr"/>
          <a:r>
            <a:rPr lang="en-IN" kern="1200"/>
            <a:t>This Chart indicates</a:t>
          </a:r>
          <a:r>
            <a:rPr lang="en-IN" kern="1200" baseline="0"/>
            <a:t> which month has the higher and lower percentage of Total Sales.</a:t>
          </a:r>
          <a:endParaRPr lang="en-IN" kern="1200"/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0.735</cdr:x>
      <cdr:y>0.1375</cdr:y>
    </cdr:from>
    <cdr:to>
      <cdr:x>0.97667</cdr:x>
      <cdr:y>0.90139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7D761F1-8156-3073-18EB-825A4D6E5857}"/>
            </a:ext>
          </a:extLst>
        </cdr:cNvPr>
        <cdr:cNvSpPr/>
      </cdr:nvSpPr>
      <cdr:spPr>
        <a:xfrm xmlns:a="http://schemas.openxmlformats.org/drawingml/2006/main">
          <a:off x="3360420" y="377190"/>
          <a:ext cx="1104900" cy="2095500"/>
        </a:xfrm>
        <a:prstGeom xmlns:a="http://schemas.openxmlformats.org/drawingml/2006/main" prst="rect">
          <a:avLst/>
        </a:prstGeom>
        <a:solidFill xmlns:a="http://schemas.openxmlformats.org/drawingml/2006/main">
          <a:schemeClr val="accent2">
            <a:lumMod val="60000"/>
            <a:lumOff val="40000"/>
          </a:schemeClr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IN" kern="1200"/>
            <a:t>This</a:t>
          </a:r>
          <a:r>
            <a:rPr lang="en-IN" kern="1200" baseline="0"/>
            <a:t> chart indicates the Total sales of North region is the highest then the west region is moderately higher than East and South has the lowest.</a:t>
          </a:r>
          <a:endParaRPr lang="en-IN" kern="12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7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78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51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712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7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71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933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77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98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3591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3BA37-3DAD-4E1C-A710-5E36B69EEBB4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C635BD0-3014-4A06-B2B8-AFA4C84FA20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426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7AB8-A201-2849-219F-735C6C8FE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4400" b="1" i="1" u="sng" dirty="0">
                <a:solidFill>
                  <a:srgbClr val="FF0000"/>
                </a:solidFill>
              </a:rPr>
              <a:t>Course 1- </a:t>
            </a:r>
            <a:r>
              <a:rPr lang="en-IN" sz="4400" i="1" dirty="0">
                <a:solidFill>
                  <a:srgbClr val="00B050"/>
                </a:solidFill>
              </a:rPr>
              <a:t>Data Storytelling </a:t>
            </a:r>
            <a:r>
              <a:rPr lang="en-IN" sz="4400" i="1">
                <a:solidFill>
                  <a:srgbClr val="00B050"/>
                </a:solidFill>
              </a:rPr>
              <a:t>and Visualization.</a:t>
            </a:r>
            <a:br>
              <a:rPr lang="en-IN" sz="4400" b="1" i="1" u="sng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4400" b="1" i="1" u="sng" dirty="0">
                <a:solidFill>
                  <a:schemeClr val="accent5">
                    <a:lumMod val="75000"/>
                  </a:schemeClr>
                </a:solidFill>
              </a:rPr>
              <a:t>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063E2-CBC4-D436-A6FE-84B0C10DB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</a:rPr>
              <a:t>Sales Revenue Dashboard</a:t>
            </a:r>
          </a:p>
        </p:txBody>
      </p:sp>
    </p:spTree>
    <p:extLst>
      <p:ext uri="{BB962C8B-B14F-4D97-AF65-F5344CB8AC3E}">
        <p14:creationId xmlns:p14="http://schemas.microsoft.com/office/powerpoint/2010/main" val="280659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06CD657-D9D1-0657-5014-E6798E74C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3049" y="0"/>
            <a:ext cx="9885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4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8777-B683-1721-A402-7FBD78B21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u="sng" dirty="0">
                <a:solidFill>
                  <a:schemeClr val="accent4">
                    <a:lumMod val="50000"/>
                  </a:schemeClr>
                </a:solidFill>
              </a:rPr>
              <a:t>Gender Pivot table and Chart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A1AB9E-C00D-6D81-BEF6-908CD04F18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0240381"/>
              </p:ext>
            </p:extLst>
          </p:nvPr>
        </p:nvGraphicFramePr>
        <p:xfrm>
          <a:off x="1451579" y="1949505"/>
          <a:ext cx="2245350" cy="2274600"/>
        </p:xfrm>
        <a:graphic>
          <a:graphicData uri="http://schemas.openxmlformats.org/drawingml/2006/table">
            <a:tbl>
              <a:tblPr/>
              <a:tblGrid>
                <a:gridCol w="1104270">
                  <a:extLst>
                    <a:ext uri="{9D8B030D-6E8A-4147-A177-3AD203B41FA5}">
                      <a16:colId xmlns:a16="http://schemas.microsoft.com/office/drawing/2014/main" val="2457042170"/>
                    </a:ext>
                  </a:extLst>
                </a:gridCol>
                <a:gridCol w="1141080">
                  <a:extLst>
                    <a:ext uri="{9D8B030D-6E8A-4147-A177-3AD203B41FA5}">
                      <a16:colId xmlns:a16="http://schemas.microsoft.com/office/drawing/2014/main" val="4160864861"/>
                    </a:ext>
                  </a:extLst>
                </a:gridCol>
              </a:tblGrid>
              <a:tr h="6377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Gender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Sum of Sales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048524"/>
                  </a:ext>
                </a:extLst>
              </a:tr>
              <a:tr h="3981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Female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46.13%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32675"/>
                  </a:ext>
                </a:extLst>
              </a:tr>
              <a:tr h="3981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Male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53.87%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762559"/>
                  </a:ext>
                </a:extLst>
              </a:tr>
              <a:tr h="6377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868881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7CE34E3-868E-4229-9BFB-25D480B326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1065246"/>
              </p:ext>
            </p:extLst>
          </p:nvPr>
        </p:nvGraphicFramePr>
        <p:xfrm>
          <a:off x="4591611" y="2062026"/>
          <a:ext cx="4542609" cy="27339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9747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2D32-DA01-679D-BEBF-E2BE5E97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1">
                    <a:lumMod val="50000"/>
                  </a:schemeClr>
                </a:solidFill>
              </a:rPr>
              <a:t>Product Pivot table and Chart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4B0AC20-98B6-0103-C551-F4941845E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9671587"/>
              </p:ext>
            </p:extLst>
          </p:nvPr>
        </p:nvGraphicFramePr>
        <p:xfrm>
          <a:off x="1451576" y="1966452"/>
          <a:ext cx="2481328" cy="2889493"/>
        </p:xfrm>
        <a:graphic>
          <a:graphicData uri="http://schemas.openxmlformats.org/drawingml/2006/table">
            <a:tbl>
              <a:tblPr/>
              <a:tblGrid>
                <a:gridCol w="1240664">
                  <a:extLst>
                    <a:ext uri="{9D8B030D-6E8A-4147-A177-3AD203B41FA5}">
                      <a16:colId xmlns:a16="http://schemas.microsoft.com/office/drawing/2014/main" val="1338655406"/>
                    </a:ext>
                  </a:extLst>
                </a:gridCol>
                <a:gridCol w="1240664">
                  <a:extLst>
                    <a:ext uri="{9D8B030D-6E8A-4147-A177-3AD203B41FA5}">
                      <a16:colId xmlns:a16="http://schemas.microsoft.com/office/drawing/2014/main" val="602104300"/>
                    </a:ext>
                  </a:extLst>
                </a:gridCol>
              </a:tblGrid>
              <a:tr h="461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Sales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225324"/>
                  </a:ext>
                </a:extLst>
              </a:tr>
              <a:tr h="2369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Backpack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427748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241450"/>
                  </a:ext>
                </a:extLst>
              </a:tr>
              <a:tr h="4610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Headphones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401902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218400"/>
                  </a:ext>
                </a:extLst>
              </a:tr>
              <a:tr h="2369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Laptop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464486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68503"/>
                  </a:ext>
                </a:extLst>
              </a:tr>
              <a:tr h="2369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Phone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380648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394051"/>
                  </a:ext>
                </a:extLst>
              </a:tr>
              <a:tr h="2369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228684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323437"/>
                  </a:ext>
                </a:extLst>
              </a:tr>
              <a:tr h="2369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T-Shirt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391626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66958"/>
                  </a:ext>
                </a:extLst>
              </a:tr>
              <a:tr h="2369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Watch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373119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40976"/>
                  </a:ext>
                </a:extLst>
              </a:tr>
              <a:tr h="4585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2668213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785348"/>
                  </a:ext>
                </a:extLst>
              </a:tr>
            </a:tbl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F08CCB9-529D-4299-A614-218A59BA3F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8654290"/>
              </p:ext>
            </p:extLst>
          </p:nvPr>
        </p:nvGraphicFramePr>
        <p:xfrm>
          <a:off x="5082679" y="2113935"/>
          <a:ext cx="5241191" cy="3490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6233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1BB2-F685-40FD-BF90-D293998BC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rgbClr val="92D050"/>
                </a:solidFill>
              </a:rPr>
              <a:t>Month Wise Pivot table and Chart</a:t>
            </a:r>
            <a:endParaRPr lang="en-IN" dirty="0">
              <a:solidFill>
                <a:srgbClr val="92D050"/>
              </a:solidFill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6D1FA0E-2486-524D-0421-2DB9E487FB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753693"/>
              </p:ext>
            </p:extLst>
          </p:nvPr>
        </p:nvGraphicFramePr>
        <p:xfrm>
          <a:off x="1494503" y="1914497"/>
          <a:ext cx="1710814" cy="3427886"/>
        </p:xfrm>
        <a:graphic>
          <a:graphicData uri="http://schemas.openxmlformats.org/drawingml/2006/table">
            <a:tbl>
              <a:tblPr/>
              <a:tblGrid>
                <a:gridCol w="879911">
                  <a:extLst>
                    <a:ext uri="{9D8B030D-6E8A-4147-A177-3AD203B41FA5}">
                      <a16:colId xmlns:a16="http://schemas.microsoft.com/office/drawing/2014/main" val="2089098233"/>
                    </a:ext>
                  </a:extLst>
                </a:gridCol>
                <a:gridCol w="830903">
                  <a:extLst>
                    <a:ext uri="{9D8B030D-6E8A-4147-A177-3AD203B41FA5}">
                      <a16:colId xmlns:a16="http://schemas.microsoft.com/office/drawing/2014/main" val="959173032"/>
                    </a:ext>
                  </a:extLst>
                </a:gridCol>
              </a:tblGrid>
              <a:tr h="3417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Month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Sales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850804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705047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Feb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408348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6.41%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349009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Apr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6.29%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219925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7.63%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11214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92472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326319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634731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Sep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814313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Oct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10.64%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799005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7.06%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537441"/>
                  </a:ext>
                </a:extLst>
              </a:tr>
              <a:tr h="1822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Dec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7.65%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15805"/>
                  </a:ext>
                </a:extLst>
              </a:tr>
              <a:tr h="3417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100.00%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00587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8EB169E-B6FA-44BF-A0DE-30568CC869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0871381"/>
              </p:ext>
            </p:extLst>
          </p:nvPr>
        </p:nvGraphicFramePr>
        <p:xfrm>
          <a:off x="4010104" y="2228389"/>
          <a:ext cx="6923367" cy="3113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579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0693-F9EC-2DEE-8697-F0AED5B4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5">
                    <a:lumMod val="50000"/>
                  </a:schemeClr>
                </a:solidFill>
              </a:rPr>
              <a:t>Region Wise Pivot table and Chart</a:t>
            </a:r>
            <a:endParaRPr lang="en-IN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CDC8578-3569-4736-8C2E-97F42EC29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263558"/>
              </p:ext>
            </p:extLst>
          </p:nvPr>
        </p:nvGraphicFramePr>
        <p:xfrm>
          <a:off x="1451575" y="1931071"/>
          <a:ext cx="2088038" cy="2296802"/>
        </p:xfrm>
        <a:graphic>
          <a:graphicData uri="http://schemas.openxmlformats.org/drawingml/2006/table">
            <a:tbl>
              <a:tblPr/>
              <a:tblGrid>
                <a:gridCol w="1044019">
                  <a:extLst>
                    <a:ext uri="{9D8B030D-6E8A-4147-A177-3AD203B41FA5}">
                      <a16:colId xmlns:a16="http://schemas.microsoft.com/office/drawing/2014/main" val="3437175583"/>
                    </a:ext>
                  </a:extLst>
                </a:gridCol>
                <a:gridCol w="1044019">
                  <a:extLst>
                    <a:ext uri="{9D8B030D-6E8A-4147-A177-3AD203B41FA5}">
                      <a16:colId xmlns:a16="http://schemas.microsoft.com/office/drawing/2014/main" val="3674867718"/>
                    </a:ext>
                  </a:extLst>
                </a:gridCol>
              </a:tblGrid>
              <a:tr h="5556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Region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Sales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349206"/>
                  </a:ext>
                </a:extLst>
              </a:tr>
              <a:tr h="296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East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656435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261479"/>
                  </a:ext>
                </a:extLst>
              </a:tr>
              <a:tr h="296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767236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111010"/>
                  </a:ext>
                </a:extLst>
              </a:tr>
              <a:tr h="296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548327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438310"/>
                  </a:ext>
                </a:extLst>
              </a:tr>
              <a:tr h="2963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West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696215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776411"/>
                  </a:ext>
                </a:extLst>
              </a:tr>
              <a:tr h="5556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2668213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70120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45095B0-8EF3-46E7-BB45-363DF0C97F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2402240"/>
              </p:ext>
            </p:extLst>
          </p:nvPr>
        </p:nvGraphicFramePr>
        <p:xfrm>
          <a:off x="4689459" y="2271252"/>
          <a:ext cx="6234179" cy="3401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085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3DAD-4985-9C5C-7DDB-32218EF4A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accent5">
                    <a:lumMod val="50000"/>
                  </a:schemeClr>
                </a:solidFill>
              </a:rPr>
              <a:t>Quantity Wise Pivot table and Chart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2CCE848-A3D5-95B1-05E5-79CA5B6DBC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774474"/>
              </p:ext>
            </p:extLst>
          </p:nvPr>
        </p:nvGraphicFramePr>
        <p:xfrm>
          <a:off x="1451578" y="2006778"/>
          <a:ext cx="2206022" cy="2614383"/>
        </p:xfrm>
        <a:graphic>
          <a:graphicData uri="http://schemas.openxmlformats.org/drawingml/2006/table">
            <a:tbl>
              <a:tblPr/>
              <a:tblGrid>
                <a:gridCol w="1103011">
                  <a:extLst>
                    <a:ext uri="{9D8B030D-6E8A-4147-A177-3AD203B41FA5}">
                      <a16:colId xmlns:a16="http://schemas.microsoft.com/office/drawing/2014/main" val="761632107"/>
                    </a:ext>
                  </a:extLst>
                </a:gridCol>
                <a:gridCol w="1103011">
                  <a:extLst>
                    <a:ext uri="{9D8B030D-6E8A-4147-A177-3AD203B41FA5}">
                      <a16:colId xmlns:a16="http://schemas.microsoft.com/office/drawing/2014/main" val="3495807004"/>
                    </a:ext>
                  </a:extLst>
                </a:gridCol>
              </a:tblGrid>
              <a:tr h="560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quantity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 of Sales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720915"/>
                  </a:ext>
                </a:extLst>
              </a:tr>
              <a:tr h="298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174674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746111"/>
                  </a:ext>
                </a:extLst>
              </a:tr>
              <a:tr h="298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470846"/>
                  </a:ext>
                </a:extLst>
              </a:tr>
              <a:tr h="298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485850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066764"/>
                  </a:ext>
                </a:extLst>
              </a:tr>
              <a:tr h="298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665564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333076"/>
                  </a:ext>
                </a:extLst>
              </a:tr>
              <a:tr h="298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1020915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758739"/>
                  </a:ext>
                </a:extLst>
              </a:tr>
              <a:tr h="5602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 Total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2668213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782510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F48E2B6-4C45-4779-B09F-AD0BDD666D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1123599"/>
              </p:ext>
            </p:extLst>
          </p:nvPr>
        </p:nvGraphicFramePr>
        <p:xfrm>
          <a:off x="4853307" y="2379764"/>
          <a:ext cx="5303415" cy="28706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7177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0070E-7B5F-DEFA-0D8D-D1D1A0698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9121" y="792465"/>
            <a:ext cx="8637073" cy="2541431"/>
          </a:xfrm>
        </p:spPr>
        <p:txBody>
          <a:bodyPr/>
          <a:lstStyle/>
          <a:p>
            <a:r>
              <a:rPr lang="en-IN" dirty="0"/>
              <a:t>Thank You.</a:t>
            </a:r>
            <a:br>
              <a:rPr lang="en-IN" dirty="0"/>
            </a:br>
            <a:r>
              <a:rPr lang="en-IN" dirty="0"/>
              <a:t>By </a:t>
            </a:r>
            <a:r>
              <a:rPr lang="en-IN" i="1" dirty="0">
                <a:solidFill>
                  <a:schemeClr val="accent2">
                    <a:lumMod val="75000"/>
                  </a:schemeClr>
                </a:solidFill>
              </a:rPr>
              <a:t>Prashant</a:t>
            </a:r>
          </a:p>
        </p:txBody>
      </p:sp>
    </p:spTree>
    <p:extLst>
      <p:ext uri="{BB962C8B-B14F-4D97-AF65-F5344CB8AC3E}">
        <p14:creationId xmlns:p14="http://schemas.microsoft.com/office/powerpoint/2010/main" val="58890305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</TotalTime>
  <Words>251</Words>
  <Application>Microsoft Office PowerPoint</Application>
  <PresentationFormat>Widescreen</PresentationFormat>
  <Paragraphs>98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Gill Sans MT</vt:lpstr>
      <vt:lpstr>Gallery</vt:lpstr>
      <vt:lpstr>Course 1- Data Storytelling and Visualization. Project Presentation</vt:lpstr>
      <vt:lpstr>PowerPoint Presentation</vt:lpstr>
      <vt:lpstr>Gender Pivot table and Chart</vt:lpstr>
      <vt:lpstr>Product Pivot table and Chart</vt:lpstr>
      <vt:lpstr>Month Wise Pivot table and Chart</vt:lpstr>
      <vt:lpstr>Region Wise Pivot table and Chart</vt:lpstr>
      <vt:lpstr>Quantity Wise Pivot table and Chart</vt:lpstr>
      <vt:lpstr>Thank You. By Prashant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prince singh</dc:creator>
  <cp:lastModifiedBy>prince singh</cp:lastModifiedBy>
  <cp:revision>1</cp:revision>
  <dcterms:created xsi:type="dcterms:W3CDTF">2026-03-12T16:53:10Z</dcterms:created>
  <dcterms:modified xsi:type="dcterms:W3CDTF">2026-03-12T17:09:19Z</dcterms:modified>
</cp:coreProperties>
</file>